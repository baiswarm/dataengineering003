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5943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DATA ENGINEERING • SUMMER INTERNSHIP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7498079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500" b="1">
                <a:solidFill>
                  <a:srgbClr val="F5F7FA"/>
                </a:solidFill>
                <a:latin typeface="Aptos"/>
              </a:rPr>
              <a:t>Procurement &amp;
Vendor Spend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71323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0">
                <a:solidFill>
                  <a:srgbClr val="AAB7C9"/>
                </a:solidFill>
                <a:latin typeface="Aptos"/>
              </a:rPr>
              <a:t>An end-to-end Medallion pipeline for clean, historical and business-ready procurement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874519"/>
            <a:ext cx="914400" cy="914400"/>
          </a:xfrm>
          <a:prstGeom prst="roundRect">
            <a:avLst/>
          </a:prstGeom>
          <a:solidFill>
            <a:srgbClr val="141F3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20" y="2148840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38BDF8"/>
                </a:solidFill>
                <a:latin typeface="Aptos"/>
              </a:rPr>
              <a:t>BRONZE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130552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AB7C9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874519"/>
            <a:ext cx="914400" cy="914400"/>
          </a:xfrm>
          <a:prstGeom prst="roundRect">
            <a:avLst/>
          </a:prstGeom>
          <a:solidFill>
            <a:srgbClr val="141F33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2148840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818CF8"/>
                </a:solidFill>
                <a:latin typeface="Aptos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5560" y="2130552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AAB7C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1874519"/>
            <a:ext cx="914400" cy="914400"/>
          </a:xfrm>
          <a:prstGeom prst="roundRect">
            <a:avLst/>
          </a:prstGeom>
          <a:solidFill>
            <a:srgbClr val="141F33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78440" y="2148840"/>
            <a:ext cx="8229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34D399"/>
                </a:solidFill>
                <a:latin typeface="Aptos"/>
              </a:rPr>
              <a:t>GOLD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058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AAB7C9"/>
                </a:solidFill>
                <a:latin typeface="Aptos"/>
              </a:rPr>
              <a:t>Python  •  PySpark  •  Spark SQL  •  Delta Lake  •  Databricks  •  ADLS Gen2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978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Project Blueprint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01 • 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The procurement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AB7C9"/>
                </a:solidFill>
                <a:latin typeface="Aptos"/>
              </a:rPr>
              <a:t>The blueprint focuses on three business problems caused by changing vendor contracts.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474720" cy="246888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64008" cy="2468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306323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01  Price Inconsistency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3063239" cy="1755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Contract prices change over time. Without historical versions, old vs. new prices cannot be audited reliably.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246888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011680"/>
            <a:ext cx="64008" cy="2468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67128"/>
            <a:ext cx="306323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02  Invoice Mismatches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78608"/>
            <a:ext cx="3063239" cy="1755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Vendor invoices may exceed the agreed contract terms, creating hidden overspending.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011680"/>
            <a:ext cx="3474720" cy="246888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2011680"/>
            <a:ext cx="64008" cy="2468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67128"/>
            <a:ext cx="306323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03  No Historical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78608"/>
            <a:ext cx="3063239" cy="17556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Overwriting contracts removes the ability to verify which terms were active for an earlier purchase.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CORE BUSINESS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773168"/>
            <a:ext cx="8686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What was our spend using the contract terms that were active when each purchase happened?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02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A simple Medallion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AB7C9"/>
                </a:solidFill>
                <a:latin typeface="Aptos"/>
              </a:rPr>
              <a:t>Raw data is preserved first, cleaned second, historically tracked third, and aggregated last.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2423160" cy="2423160"/>
          </a:xfrm>
          <a:prstGeom prst="roundRect">
            <a:avLst/>
          </a:prstGeom>
          <a:solidFill>
            <a:srgbClr val="141F3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Aptos"/>
              </a:rPr>
              <a:t>BRONZE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70632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Raw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965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AAB7C9"/>
                </a:solidFill>
                <a:latin typeface="Aptos"/>
              </a:rPr>
              <a:t>CSV → Delta
Metadata 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306324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AB7C9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48840"/>
            <a:ext cx="2423160" cy="2423160"/>
          </a:xfrm>
          <a:prstGeom prst="roundRect">
            <a:avLst/>
          </a:prstGeom>
          <a:solidFill>
            <a:srgbClr val="141F33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818CF8"/>
                </a:solidFill>
                <a:latin typeface="Aptos"/>
              </a:rPr>
              <a:t>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70632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Clean &amp; standardize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37560"/>
            <a:ext cx="1965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AAB7C9"/>
                </a:solidFill>
                <a:latin typeface="Aptos"/>
              </a:rPr>
              <a:t>Nulls • types
Duplicates • formats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306324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AB7C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2423160" cy="2423160"/>
          </a:xfrm>
          <a:prstGeom prst="roundRect">
            <a:avLst/>
          </a:prstGeom>
          <a:solidFill>
            <a:srgbClr val="141F3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ptos"/>
              </a:rPr>
              <a:t>SCD TYPE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70632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Track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1965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AAB7C9"/>
                </a:solidFill>
                <a:latin typeface="Aptos"/>
              </a:rPr>
              <a:t>Old version inactive
New version 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063240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AB7C9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148840"/>
            <a:ext cx="2423160" cy="2423160"/>
          </a:xfrm>
          <a:prstGeom prst="roundRect">
            <a:avLst/>
          </a:prstGeom>
          <a:solidFill>
            <a:srgbClr val="141F33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37744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Aptos"/>
              </a:rPr>
              <a:t>GOLD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770632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Business insights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337560"/>
            <a:ext cx="1965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AAB7C9"/>
                </a:solidFill>
                <a:latin typeface="Aptos"/>
              </a:rPr>
              <a:t>Spend • variance
Risk • 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03 • 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Bronze → Silver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AB7C9"/>
                </a:solidFill>
                <a:latin typeface="Aptos"/>
              </a:rPr>
              <a:t>The pipeline establishes reliable data before applying business 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349240" cy="329184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64008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93775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BRONZE  |  Raw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4937759" cy="2578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• Read raw CSV datasets with header + inferred schema
• Preserve source records in Delta tables
• Add ingestion_timestamp and source_file
• Append new data on subsequent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349240" cy="329184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920240"/>
            <a:ext cx="64008" cy="32918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75688"/>
            <a:ext cx="493775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SILVER  |  Cleansing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87168"/>
            <a:ext cx="4937759" cy="2578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• Handle critical null values
• Cast dates and numeric fields
• Remove duplicates
• Standardize values and date formats
• Write cleaned Silver Delta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04 • HISTORICAL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SCD Type 2 for vendor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AB7C9"/>
                </a:solidFill>
                <a:latin typeface="Aptos"/>
              </a:rPr>
              <a:t>Contract history is preserved so past purchases can be evaluated against the correct version.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3657600"/>
            <a:ext cx="9601200" cy="0"/>
          </a:xfrm>
          <a:prstGeom prst="line">
            <a:avLst/>
          </a:prstGeom>
          <a:ln>
            <a:solidFill>
              <a:srgbClr val="AA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463040" y="3401568"/>
            <a:ext cx="502920" cy="5029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7171"/>
                </a:solidFill>
                <a:latin typeface="Aptos"/>
              </a:rPr>
              <a:t>OLD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is_active = false
end_date set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3401568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2487168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BBF24"/>
                </a:solidFill>
                <a:latin typeface="Aptos"/>
              </a:rPr>
              <a:t>CONTRACT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06908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Price / terms
are updated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0" y="3401568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59" y="2487168"/>
            <a:ext cx="1554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Aptos"/>
              </a:rPr>
              <a:t>NEW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4069080"/>
            <a:ext cx="2148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ptos"/>
              </a:rPr>
              <a:t>is_active = true
end_date =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5440680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38BDF8"/>
                </a:solidFill>
                <a:latin typeface="Aptos"/>
              </a:rPr>
              <a:t>Delta MERGE • vendor_id + item_name • historical versions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05 • GOLD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Business-ready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AB7C9"/>
                </a:solidFill>
                <a:latin typeface="Aptos"/>
              </a:rPr>
              <a:t>Four Gold outputs turn procurement records into decision-support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349240" cy="164592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64008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7"/>
            <a:ext cx="493775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Vendor Spend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4937759" cy="932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total_spend • avg_invoice_amount • total_orders per vendor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4519"/>
            <a:ext cx="5349240" cy="164592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874519"/>
            <a:ext cx="64008" cy="1645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7"/>
            <a:ext cx="493775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Price Variance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41448"/>
            <a:ext cx="4937759" cy="932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invoice vs. contract price • price difference • Overcharged flag • average vendor variance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349240" cy="164592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64008" cy="1645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50208"/>
            <a:ext cx="493775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Vendor Risk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4937759" cy="932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High Risk • Medium Risk • Low Risk using variance and overdue invoices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349240" cy="164592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94760"/>
            <a:ext cx="64008" cy="1645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50208"/>
            <a:ext cx="4937759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Regional Spend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61688"/>
            <a:ext cx="4937759" cy="932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Aggregate total spend by region and show vendors by 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06 •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What the Gold layer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AB7C9"/>
                </a:solidFill>
                <a:latin typeface="Aptos"/>
              </a:rPr>
              <a:t>The final analytics layer is designed around the business questions in the blueprint.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2514600" cy="2057400"/>
          </a:xfrm>
          <a:prstGeom prst="roundRect">
            <a:avLst/>
          </a:prstGeom>
          <a:solidFill>
            <a:srgbClr val="141F3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50592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38BDF8"/>
                </a:solidFill>
                <a:latin typeface="Aptos"/>
              </a:rPr>
              <a:t>SPEND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Which vendors drive spend?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2514600" cy="2057400"/>
          </a:xfrm>
          <a:prstGeom prst="roundRect">
            <a:avLst/>
          </a:prstGeom>
          <a:solidFill>
            <a:srgbClr val="141F33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450592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BBF24"/>
                </a:solidFill>
                <a:latin typeface="Aptos"/>
              </a:rPr>
              <a:t>VARIANCE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154680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Where are invoices above contract price?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03120"/>
            <a:ext cx="2514600" cy="2057400"/>
          </a:xfrm>
          <a:prstGeom prst="roundRect">
            <a:avLst/>
          </a:prstGeom>
          <a:solidFill>
            <a:srgbClr val="141F33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50592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87171"/>
                </a:solidFill>
                <a:latin typeface="Aptos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54680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Which vendors need attention?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2103120"/>
            <a:ext cx="2514600" cy="2057400"/>
          </a:xfrm>
          <a:prstGeom prst="roundRect">
            <a:avLst/>
          </a:prstGeom>
          <a:solidFill>
            <a:srgbClr val="141F33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39" y="2450592"/>
            <a:ext cx="2148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  <a:latin typeface="Aptos"/>
              </a:rPr>
              <a:t>REGION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3154680"/>
            <a:ext cx="2057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How is spend distributed geographically?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645152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Aptos"/>
              </a:rPr>
              <a:t>A clean, historically aware and analytics-ready procurement platform.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07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Technology &amp;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AB7C9"/>
                </a:solidFill>
                <a:latin typeface="Aptos"/>
              </a:rPr>
              <a:t>The implementation follows the technologies and deliverables specified in the project blueprint.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303520" cy="329184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64008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892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4892040" cy="2578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Python
PySpark
Spark SQL
Delta Lake
Databricks
ADLS Gen2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20240"/>
            <a:ext cx="5303520" cy="3291840"/>
          </a:xfrm>
          <a:prstGeom prst="roundRect">
            <a:avLst/>
          </a:prstGeom>
          <a:solidFill>
            <a:srgbClr val="141F33"/>
          </a:solidFill>
          <a:ln>
            <a:solidFill>
              <a:srgbClr val="23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920240"/>
            <a:ext cx="64008" cy="3291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75688"/>
            <a:ext cx="4892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SUBMISSION DELIVERABLES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87168"/>
            <a:ext cx="4892040" cy="2578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AAB7C9"/>
                </a:solidFill>
                <a:latin typeface="Aptos"/>
              </a:rPr>
              <a:t>01  Bronze Layer notebooks
02  Silver + SCD Type 2 notebooks
03  Gold Layer SQL / notebooks
04  Data Quality Summary
05  Final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08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From raw procurement data to actionable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44168"/>
            <a:ext cx="10515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AAB7C9"/>
                </a:solidFill>
                <a:latin typeface="Aptos"/>
              </a:rPr>
              <a:t>The pipeline combines data engineering fundamentals with business-focused analytics.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6766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Bronze preserves raw records and ingestion metadata.</a:t>
            </a:r>
          </a:p>
          <a:p>
            <a:pPr>
              <a:spcAft>
                <a:spcPts val="9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Silver cleans, standardizes and validates the data.</a:t>
            </a:r>
          </a:p>
          <a:p>
            <a:pPr>
              <a:spcAft>
                <a:spcPts val="9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SCD Type 2 preserves historical vendor contract versions.</a:t>
            </a:r>
          </a:p>
          <a:p>
            <a:pPr>
              <a:spcAft>
                <a:spcPts val="9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Gold produces spend, variance, risk and regional insights.</a:t>
            </a:r>
          </a:p>
          <a:p>
            <a:pPr>
              <a:spcAft>
                <a:spcPts val="900"/>
              </a:spcAft>
              <a:defRPr sz="1600">
                <a:solidFill>
                  <a:srgbClr val="F5F7FA"/>
                </a:solidFill>
                <a:latin typeface="Aptos"/>
              </a:defRPr>
            </a:pPr>
            <a:r>
              <a:t>• The resulting Gold layer is ready for reporting and dashboarding.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2057400"/>
            <a:ext cx="2880360" cy="2926080"/>
          </a:xfrm>
          <a:prstGeom prst="roundRect">
            <a:avLst/>
          </a:prstGeom>
          <a:solidFill>
            <a:srgbClr val="141F3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2487168"/>
            <a:ext cx="2240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8BDF8"/>
                </a:solidFill>
                <a:latin typeface="Aptos"/>
              </a:rPr>
              <a:t>END-TO-END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971800"/>
            <a:ext cx="2240280" cy="1554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RAW
↓
CLEAN
↓
HISTORY
↓
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92240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AB7C9"/>
                </a:solidFill>
                <a:latin typeface="Aptos"/>
              </a:rPr>
              <a:t>PROCUREMENT &amp; VENDOR SPEND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4572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AB7C9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